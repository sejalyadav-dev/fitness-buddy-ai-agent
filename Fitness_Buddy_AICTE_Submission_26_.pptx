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2"/>
  </p:sldMasterIdLst>
  <p:notesMasterIdLst>
    <p:notesMasterId r:id="rId24"/>
  </p:notesMasterIdLst>
  <p:handoutMasterIdLst>
    <p:handoutMasterId r:id="rId25"/>
  </p:handoutMasterIdLst>
  <p:sldIdLst>
    <p:sldId id="287" r:id="rId3"/>
    <p:sldId id="257" r:id="rId4"/>
    <p:sldId id="27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80" r:id="rId19"/>
    <p:sldId id="281" r:id="rId20"/>
    <p:sldId id="282" r:id="rId21"/>
    <p:sldId id="271" r:id="rId22"/>
    <p:sldId id="272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71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71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1580284"/>
            <a:ext cx="2971800" cy="6117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11580284"/>
            <a:ext cx="2971800" cy="6117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695D9A-28D9-C180-CD9E-7F127CD1232C}"/>
              </a:ext>
            </a:extLst>
          </p:cNvPr>
          <p:cNvSpPr txBox="1"/>
          <p:nvPr/>
        </p:nvSpPr>
        <p:spPr>
          <a:xfrm>
            <a:off x="4735283" y="2785188"/>
            <a:ext cx="706794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000" dirty="0">
                <a:latin typeface="Arial Rounded MT Bold" panose="020F0704030504030204" pitchFamily="34" charset="0"/>
              </a:rPr>
              <a:t>IBM UNIVERSITY ENGAGEMENT PROJECT SUBMISSION</a:t>
            </a:r>
            <a:endParaRPr lang="en-IN" sz="4000" dirty="0">
              <a:latin typeface="Arial Rounded MT Bold" panose="020F07040305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2840F2-9EB9-CAC1-77C7-F272614D1B8E}"/>
              </a:ext>
            </a:extLst>
          </p:cNvPr>
          <p:cNvSpPr txBox="1"/>
          <p:nvPr/>
        </p:nvSpPr>
        <p:spPr>
          <a:xfrm>
            <a:off x="6096000" y="5181008"/>
            <a:ext cx="55451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Built using IBM 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watsonx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 Orchestrate &amp; Granite-class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Foundation Models</a:t>
            </a:r>
            <a:endParaRPr lang="en-IN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FF856B-C507-F13E-9104-BEAE80CA5FA3}"/>
              </a:ext>
            </a:extLst>
          </p:cNvPr>
          <p:cNvSpPr txBox="1"/>
          <p:nvPr/>
        </p:nvSpPr>
        <p:spPr>
          <a:xfrm>
            <a:off x="5153025" y="2138857"/>
            <a:ext cx="6488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rial Narrow" panose="020B0606020202030204" pitchFamily="34" charset="0"/>
              </a:rPr>
              <a:t>Fitness Buddy : An AI-Powered Fitness &amp;</a:t>
            </a:r>
            <a:r>
              <a:rPr lang="en-IN" b="1" dirty="0">
                <a:solidFill>
                  <a:schemeClr val="accent2">
                    <a:lumMod val="75000"/>
                  </a:schemeClr>
                </a:solidFill>
                <a:latin typeface="Arial Narrow" panose="020B0606020202030204" pitchFamily="34" charset="0"/>
              </a:rPr>
              <a:t> </a:t>
            </a:r>
          </a:p>
          <a:p>
            <a:pPr algn="r"/>
            <a:r>
              <a:rPr lang="en-IN" b="1" dirty="0">
                <a:solidFill>
                  <a:schemeClr val="accent2">
                    <a:lumMod val="75000"/>
                  </a:schemeClr>
                </a:solidFill>
                <a:latin typeface="Arial Narrow" panose="020B0606020202030204" pitchFamily="34" charset="0"/>
              </a:rPr>
              <a:t>Wellness Coaching Agent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Arial Narrow" panose="020B060602020203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3" name="Shape 1"/>
          <p:cNvSpPr/>
          <p:nvPr/>
        </p:nvSpPr>
        <p:spPr>
          <a:xfrm>
            <a:off x="914400" y="1463040"/>
            <a:ext cx="10332720" cy="4114800"/>
          </a:xfrm>
          <a:prstGeom prst="rect">
            <a:avLst/>
          </a:prstGeom>
          <a:solidFill>
            <a:srgbClr val="FFFFFF"/>
          </a:solidFill>
          <a:effectLst>
            <a:outerShdw blurRad="101600" dist="381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920240"/>
            <a:ext cx="94183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DOMAIN OF PROJECT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94183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Health &amp; Fitness / Wellness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PROJECT TITLE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3840480"/>
            <a:ext cx="941832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Fitness Buddy — Personalized AI Coaching for Home Workouts, Nutrition &amp; Motivation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38272374"/>
              </p:ext>
            </p:extLst>
          </p:nvPr>
        </p:nvGraphicFramePr>
        <p:xfrm>
          <a:off x="1450975" y="1784350"/>
          <a:ext cx="9443720" cy="3869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8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29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34845">
                <a:tc>
                  <a:txBody>
                    <a:bodyPr/>
                    <a:lstStyle/>
                    <a:p>
                      <a:pPr algn="ctr">
                        <a:lnSpc>
                          <a:spcPct val="370000"/>
                        </a:lnSpc>
                        <a:buNone/>
                      </a:pPr>
                      <a:r>
                        <a:rPr lang="en-US" dirty="0"/>
                        <a:t>NAME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buNone/>
                      </a:pPr>
                      <a:r>
                        <a:rPr lang="en-US" dirty="0"/>
                        <a:t>PASSPORT SIZE PHOTO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380000"/>
                        </a:lnSpc>
                        <a:buNone/>
                      </a:pPr>
                      <a:r>
                        <a:rPr lang="en-US" dirty="0"/>
                        <a:t>EMAIL ID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MOBILE NUMBER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STUDENT ID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4845">
                <a:tc>
                  <a:txBody>
                    <a:bodyPr/>
                    <a:lstStyle/>
                    <a:p>
                      <a:pPr algn="ctr">
                        <a:lnSpc>
                          <a:spcPct val="330000"/>
                        </a:lnSpc>
                        <a:buNone/>
                      </a:pPr>
                      <a:r>
                        <a:rPr lang="en-US" b="1" dirty="0"/>
                        <a:t>SEJAL YADAV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i="1" dirty="0"/>
                        <a:t>sejalyadav1205@gmail.com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7225878220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b="0" i="1" dirty="0"/>
                        <a:t>STU69e87bfbaee551776843771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4" name="Picture 13" descr="WhatsApp Image 2026-07-12 at 7.31.23 PM"/>
          <p:cNvPicPr>
            <a:picLocks noChangeAspect="1"/>
          </p:cNvPicPr>
          <p:nvPr/>
        </p:nvPicPr>
        <p:blipFill>
          <a:blip r:embed="rId3"/>
          <a:srcRect l="3801" t="23034" r="3801"/>
          <a:stretch>
            <a:fillRect/>
          </a:stretch>
        </p:blipFill>
        <p:spPr>
          <a:xfrm>
            <a:off x="3449320" y="3823335"/>
            <a:ext cx="1508125" cy="16725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B4017C-E61B-7B28-A462-56089E5C0C22}"/>
              </a:ext>
            </a:extLst>
          </p:cNvPr>
          <p:cNvSpPr txBox="1"/>
          <p:nvPr/>
        </p:nvSpPr>
        <p:spPr>
          <a:xfrm>
            <a:off x="4475390" y="680740"/>
            <a:ext cx="3724096" cy="646331"/>
          </a:xfrm>
          <a:prstGeom prst="rect">
            <a:avLst/>
          </a:prstGeom>
          <a:noFill/>
        </p:spPr>
        <p:txBody>
          <a:bodyPr wrap="none" numCol="1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en-IN" sz="36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15315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Problem Statement — Problem Statement No. 13: Fitness Buddy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37640"/>
            <a:ext cx="10789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Challenge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81330" y="1737360"/>
            <a:ext cx="10789920" cy="1920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 today's busy world, many people find it difficult to maintain a healthy lifestyle due to limited time, lack of personalized fitness guidance, and inconsistent . Existing fitness solutions often require costly subscriptions, personal trainers, or fixed workout schedules that may not suit individual needs and daily routines.</a:t>
            </a:r>
          </a:p>
          <a:p>
            <a:pPr marL="0" indent="0">
              <a:lnSpc>
                <a:spcPct val="115000"/>
              </a:lnSpc>
              <a:buNone/>
            </a:pPr>
            <a:endParaRPr lang="en-US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As a result, there is a growing demand for an accessible and intelligent virtual fitness assistant that can provide personalized workout recommendations, healthy lifestyle advice, and basic nutrition guidance anytime and anywhere.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10789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Objective (as per problem statement)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078992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Recommend home workouts and routines based on user preferences.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Provide motivational tips and daily fitness inspiration or tips.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Suggest simple,and nutritious meal ideas.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Encourage habit-building and consistency.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715000"/>
            <a:ext cx="10424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2">
                    <a:lumMod val="50000"/>
                  </a:schemeClr>
                </a:solidFill>
                <a:highlight>
                  <a:srgbClr val="C0C0C0"/>
                </a:highlight>
                <a:latin typeface="Arial Rounded MT Bold" panose="020F0704030504030204" pitchFamily="34" charset="0"/>
                <a:ea typeface="Arial" panose="020B0604020202020204" pitchFamily="34" charset="-122"/>
                <a:cs typeface="Arial Narrow" panose="020B0606020202030204" charset="0"/>
              </a:rPr>
              <a:t>Mandated Technology: Use of IBM Cloud Lite services and IBM Granite-class models</a:t>
            </a:r>
            <a:r>
              <a:rPr lang="en-US" sz="1400" i="1" dirty="0">
                <a:solidFill>
                  <a:srgbClr val="073D37"/>
                </a:solidFill>
                <a:highlight>
                  <a:srgbClr val="C0C0C0"/>
                </a:highlight>
                <a:latin typeface="Arial Narrow" panose="020B0606020202030204" charset="0"/>
                <a:ea typeface="Arial" panose="020B0604020202020204" pitchFamily="34" charset="-122"/>
                <a:cs typeface="Arial Narrow" panose="020B0606020202030204" charset="0"/>
              </a:rPr>
              <a:t>.</a:t>
            </a:r>
            <a:endParaRPr lang="en-US" sz="1400" dirty="0">
              <a:highlight>
                <a:srgbClr val="C0C0C0"/>
              </a:highlight>
              <a:latin typeface="Arial Narrow" panose="020B0606020202030204" charset="0"/>
              <a:cs typeface="Arial Narrow" panose="020B06060202020302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5430" y="42799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Proposed Solution: AI-Powered Fitness Buddy Agent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78992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Fitness Buddy is an AI-based health and fitness assistant developed using </a:t>
            </a: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IBM watsonx Orchestrate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 It helps users achieve their fitness goals by providing personalized workout suggestions, nutrition guidance, and motivational support. The system uses trusted fitness information to ensure accurate and reliable recommendations.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3502152" cy="1965960"/>
          </a:xfrm>
          <a:prstGeom prst="roundRect">
            <a:avLst>
              <a:gd name="adj" fmla="val 3721"/>
            </a:avLst>
          </a:prstGeom>
          <a:solidFill>
            <a:schemeClr val="accent2"/>
          </a:solidFill>
        </p:spPr>
      </p:sp>
      <p:sp>
        <p:nvSpPr>
          <p:cNvPr id="5" name="Text 3"/>
          <p:cNvSpPr/>
          <p:nvPr/>
        </p:nvSpPr>
        <p:spPr>
          <a:xfrm>
            <a:off x="772795" y="2606040"/>
            <a:ext cx="3070225" cy="457200"/>
          </a:xfrm>
          <a:prstGeom prst="rect">
            <a:avLst/>
          </a:prstGeom>
          <a:noFill/>
        </p:spPr>
        <p:txBody>
          <a:bodyPr wrap="square" rtlCol="0" anchor="ctr" anchorCtr="0"/>
          <a:lstStyle/>
          <a:p>
            <a:pPr marL="0" indent="0" algn="just">
              <a:lnSpc>
                <a:spcPct val="80000"/>
              </a:lnSpc>
              <a:buNone/>
            </a:pPr>
            <a:r>
              <a:rPr lang="en-US" sz="15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Understands the Goal</a:t>
            </a:r>
            <a:endParaRPr lang="en-US" sz="15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3108960"/>
            <a:ext cx="3044952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Identifies whether the user needs workout plans, diet suggestions, or fitness motivation.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Provides recommendations based on individual fitness objectives and lifestyle.</a:t>
            </a:r>
          </a:p>
        </p:txBody>
      </p:sp>
      <p:sp>
        <p:nvSpPr>
          <p:cNvPr id="7" name="Shape 5"/>
          <p:cNvSpPr/>
          <p:nvPr/>
        </p:nvSpPr>
        <p:spPr>
          <a:xfrm>
            <a:off x="4187952" y="2423160"/>
            <a:ext cx="3502152" cy="1965960"/>
          </a:xfrm>
          <a:prstGeom prst="roundRect">
            <a:avLst>
              <a:gd name="adj" fmla="val 3721"/>
            </a:avLst>
          </a:prstGeom>
          <a:solidFill>
            <a:schemeClr val="accent2">
              <a:lumMod val="40000"/>
              <a:lumOff val="60000"/>
            </a:schemeClr>
          </a:solidFill>
        </p:spPr>
      </p:sp>
      <p:sp>
        <p:nvSpPr>
          <p:cNvPr id="8" name="Text 6"/>
          <p:cNvSpPr/>
          <p:nvPr/>
        </p:nvSpPr>
        <p:spPr>
          <a:xfrm>
            <a:off x="4416552" y="260604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Retrieves Trusted Knowledge</a:t>
            </a:r>
            <a:endParaRPr lang="en-US" sz="15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416552" y="3108960"/>
            <a:ext cx="3044952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Uses RAG to pull structured, verified content from the Fitness Buddy knowledge base — workouts, food ideas, and safety guidance — instead of improvising.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27264" y="2423160"/>
            <a:ext cx="3502152" cy="1965960"/>
          </a:xfrm>
          <a:prstGeom prst="roundRect">
            <a:avLst>
              <a:gd name="adj" fmla="val 3721"/>
            </a:avLst>
          </a:prstGeom>
          <a:solidFill>
            <a:schemeClr val="accent2"/>
          </a:solidFill>
        </p:spPr>
      </p:sp>
      <p:sp>
        <p:nvSpPr>
          <p:cNvPr id="11" name="Text 9"/>
          <p:cNvSpPr/>
          <p:nvPr/>
        </p:nvSpPr>
        <p:spPr>
          <a:xfrm>
            <a:off x="8055864" y="260604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Responds Safely &amp; Consistently</a:t>
            </a:r>
            <a:endParaRPr lang="en-US" sz="15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55864" y="3108960"/>
            <a:ext cx="3044952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Custom Behavior instructions and condition-action Guidelines keep answers safe, on-topic, non-judgmental, and formatted consistently.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663440"/>
            <a:ext cx="107899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/>
              <a:t>[The Fitness Buddy is designed for people who may not have access to a gym or expensive equipment. It suggests simple home-based exercises and affordable nutrition options, making fitness guidance accessible to everyone.]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Technology Used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4" name="Shape 2"/>
          <p:cNvSpPr/>
          <p:nvPr/>
        </p:nvSpPr>
        <p:spPr>
          <a:xfrm>
            <a:off x="731520" y="1490472"/>
            <a:ext cx="320040" cy="320040"/>
          </a:xfrm>
          <a:prstGeom prst="roundRect">
            <a:avLst>
              <a:gd name="adj" fmla="val 85714"/>
            </a:avLst>
          </a:prstGeom>
          <a:solidFill>
            <a:schemeClr val="accent2"/>
          </a:solidFill>
        </p:spPr>
      </p:sp>
      <p:sp>
        <p:nvSpPr>
          <p:cNvPr id="5" name="Text 3"/>
          <p:cNvSpPr/>
          <p:nvPr/>
        </p:nvSpPr>
        <p:spPr>
          <a:xfrm>
            <a:off x="1188720" y="1435608"/>
            <a:ext cx="4526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IBM watsonx Orchestrate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No-code Agent Builder used to create, configure, and deploy the Fitness Buddy agent — including behavior, knowledge, and guidelines.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35040" y="132588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8" name="Shape 6"/>
          <p:cNvSpPr/>
          <p:nvPr/>
        </p:nvSpPr>
        <p:spPr>
          <a:xfrm>
            <a:off x="6217920" y="1490472"/>
            <a:ext cx="320040" cy="320040"/>
          </a:xfrm>
          <a:prstGeom prst="roundRect">
            <a:avLst>
              <a:gd name="adj" fmla="val 85714"/>
            </a:avLst>
          </a:prstGeom>
          <a:solidFill>
            <a:schemeClr val="accent2"/>
          </a:solidFill>
        </p:spPr>
      </p:sp>
      <p:sp>
        <p:nvSpPr>
          <p:cNvPr id="9" name="Text 7"/>
          <p:cNvSpPr/>
          <p:nvPr/>
        </p:nvSpPr>
        <p:spPr>
          <a:xfrm>
            <a:off x="6675120" y="1435608"/>
            <a:ext cx="4526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GPT-OSS 120B (Foundation Model)</a:t>
            </a:r>
          </a:p>
        </p:txBody>
      </p:sp>
      <p:sp>
        <p:nvSpPr>
          <p:cNvPr id="10" name="Text 8"/>
          <p:cNvSpPr/>
          <p:nvPr/>
        </p:nvSpPr>
        <p:spPr>
          <a:xfrm>
            <a:off x="6309360" y="1920240"/>
            <a:ext cx="48463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large language model powering natural language understanding, reasoning, and personalized response generation.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2" name="Shape 10"/>
          <p:cNvSpPr/>
          <p:nvPr/>
        </p:nvSpPr>
        <p:spPr>
          <a:xfrm>
            <a:off x="731520" y="3044952"/>
            <a:ext cx="320040" cy="320040"/>
          </a:xfrm>
          <a:prstGeom prst="roundRect">
            <a:avLst>
              <a:gd name="adj" fmla="val 85714"/>
            </a:avLst>
          </a:prstGeom>
          <a:solidFill>
            <a:schemeClr val="accent2">
              <a:lumMod val="40000"/>
              <a:lumOff val="60000"/>
            </a:schemeClr>
          </a:solidFill>
        </p:spPr>
      </p:sp>
      <p:sp>
        <p:nvSpPr>
          <p:cNvPr id="13" name="Text 11"/>
          <p:cNvSpPr/>
          <p:nvPr/>
        </p:nvSpPr>
        <p:spPr>
          <a:xfrm>
            <a:off x="1188720" y="2990088"/>
            <a:ext cx="4526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IBM Cloud (Lite Plan)</a:t>
            </a:r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48463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Provides the underlying infrastructure to build, host, and run the Orchestrate instance reliably and at zero cost for this project.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288036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6" name="Shape 14"/>
          <p:cNvSpPr/>
          <p:nvPr/>
        </p:nvSpPr>
        <p:spPr>
          <a:xfrm>
            <a:off x="6217920" y="3044952"/>
            <a:ext cx="320040" cy="320040"/>
          </a:xfrm>
          <a:prstGeom prst="roundRect">
            <a:avLst>
              <a:gd name="adj" fmla="val 85714"/>
            </a:avLst>
          </a:prstGeom>
          <a:solidFill>
            <a:schemeClr val="accent2">
              <a:lumMod val="40000"/>
              <a:lumOff val="60000"/>
            </a:schemeClr>
          </a:solidFill>
        </p:spPr>
      </p:sp>
      <p:sp>
        <p:nvSpPr>
          <p:cNvPr id="17" name="Text 15"/>
          <p:cNvSpPr/>
          <p:nvPr/>
        </p:nvSpPr>
        <p:spPr>
          <a:xfrm>
            <a:off x="6675120" y="2990088"/>
            <a:ext cx="4526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Retrieval-Augmented Generation (RAG)</a:t>
            </a:r>
          </a:p>
        </p:txBody>
      </p:sp>
      <p:sp>
        <p:nvSpPr>
          <p:cNvPr id="18" name="Text 16"/>
          <p:cNvSpPr/>
          <p:nvPr/>
        </p:nvSpPr>
        <p:spPr>
          <a:xfrm>
            <a:off x="6309360" y="3474720"/>
            <a:ext cx="48463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Grounds every response in the uploaded knowledge base document, improving accuracy and trustworthiness over free-form generation.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0" name="Shape 18"/>
          <p:cNvSpPr/>
          <p:nvPr/>
        </p:nvSpPr>
        <p:spPr>
          <a:xfrm>
            <a:off x="731520" y="4599432"/>
            <a:ext cx="320040" cy="320040"/>
          </a:xfrm>
          <a:prstGeom prst="roundRect">
            <a:avLst>
              <a:gd name="adj" fmla="val 85714"/>
            </a:avLst>
          </a:prstGeom>
          <a:solidFill>
            <a:schemeClr val="accent2"/>
          </a:solidFill>
        </p:spPr>
      </p:sp>
      <p:sp>
        <p:nvSpPr>
          <p:cNvPr id="21" name="Text 19"/>
          <p:cNvSpPr/>
          <p:nvPr/>
        </p:nvSpPr>
        <p:spPr>
          <a:xfrm>
            <a:off x="1188720" y="4544568"/>
            <a:ext cx="4526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Custom Knowledge Base (PDF)</a:t>
            </a:r>
          </a:p>
        </p:txBody>
      </p:sp>
      <p:sp>
        <p:nvSpPr>
          <p:cNvPr id="22" name="Text 20"/>
          <p:cNvSpPr/>
          <p:nvPr/>
        </p:nvSpPr>
        <p:spPr>
          <a:xfrm>
            <a:off x="822960" y="5029200"/>
            <a:ext cx="48463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structured document covering workouts, goal-based guidance, no-equipment adaptations, nutrition ideas, and safety rules.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35040" y="443484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4" name="Shape 22"/>
          <p:cNvSpPr/>
          <p:nvPr/>
        </p:nvSpPr>
        <p:spPr>
          <a:xfrm>
            <a:off x="6217920" y="4599432"/>
            <a:ext cx="320040" cy="320040"/>
          </a:xfrm>
          <a:prstGeom prst="roundRect">
            <a:avLst>
              <a:gd name="adj" fmla="val 85714"/>
            </a:avLst>
          </a:prstGeom>
          <a:solidFill>
            <a:schemeClr val="accent2"/>
          </a:solidFill>
        </p:spPr>
      </p:sp>
      <p:sp>
        <p:nvSpPr>
          <p:cNvPr id="25" name="Text 23"/>
          <p:cNvSpPr/>
          <p:nvPr/>
        </p:nvSpPr>
        <p:spPr>
          <a:xfrm>
            <a:off x="6675120" y="4544568"/>
            <a:ext cx="4526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Behavior &amp; Guidelines Engine</a:t>
            </a:r>
          </a:p>
        </p:txBody>
      </p:sp>
      <p:sp>
        <p:nvSpPr>
          <p:cNvPr id="26" name="Text 24"/>
          <p:cNvSpPr/>
          <p:nvPr/>
        </p:nvSpPr>
        <p:spPr>
          <a:xfrm>
            <a:off x="6309360" y="5029200"/>
            <a:ext cx="48463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Condition–action rules that keep the agent safe, on-topic, and non-judgmental across all conversations.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Orchestrate Agent Components Used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417320"/>
          </a:xfrm>
          <a:prstGeom prst="roundRect">
            <a:avLst>
              <a:gd name="adj" fmla="val 4516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D8E6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63040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Profile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" y="1892808"/>
            <a:ext cx="48920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Agent name, description, and welcome message that define what Fitness Buddy does and how it introduces itself.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35040" y="1325880"/>
            <a:ext cx="5349240" cy="1417320"/>
          </a:xfrm>
          <a:prstGeom prst="roundRect">
            <a:avLst>
              <a:gd name="adj" fmla="val 4516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D8E6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63640" y="1463040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Knowledge Base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63640" y="1892808"/>
            <a:ext cx="48920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Uploaded PDF document indexed for RAG-based retrieval — the agent's single source of truth for workouts, nutrition, and safety content.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349240" cy="1417320"/>
          </a:xfrm>
          <a:prstGeom prst="roundRect">
            <a:avLst>
              <a:gd name="adj" fmla="val 4516"/>
            </a:avLst>
          </a:prstGeom>
          <a:solidFill>
            <a:schemeClr val="bg1"/>
          </a:solidFill>
          <a:ln w="12700">
            <a:solidFill>
              <a:srgbClr val="D8E6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017520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Behavior / Instructions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3447288"/>
            <a:ext cx="48920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Custom system prompt defining the agent's role, response rules, tone, and structured output format (Suggestion Type / Details / Tip).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2880360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8E6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3017520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Guidelines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63640" y="3447288"/>
            <a:ext cx="48920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Condition–action rules enforcing safety: no medical diagnosis, non-judgmental tone, no unsafe/extreme advice, off-topic redirection.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434840"/>
            <a:ext cx="5349240" cy="1417320"/>
          </a:xfrm>
          <a:prstGeom prst="roundRect">
            <a:avLst>
              <a:gd name="adj" fmla="val 4516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D8E6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72000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5. Quick-Start Prompts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5001768"/>
            <a:ext cx="48920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Pre-set starter messages (e.g. "Suggest a free workout with no equipment") that guide first-time users.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35040" y="4434840"/>
            <a:ext cx="5349240" cy="1417320"/>
          </a:xfrm>
          <a:prstGeom prst="roundRect">
            <a:avLst>
              <a:gd name="adj" fmla="val 4516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D8E6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4572000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6. Talk to Agent (Chat Preview)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63640" y="5001768"/>
            <a:ext cx="48920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Built-in chat interface used to test and validate the agent's responses before deployment.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310000"/>
              </a:lnSpc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Agent 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265176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accent2">
              <a:lumMod val="60000"/>
              <a:lumOff val="40000"/>
            </a:schemeClr>
          </a:solidFill>
        </p:spPr>
      </p:sp>
      <p:sp>
        <p:nvSpPr>
          <p:cNvPr id="4" name="Text 2"/>
          <p:cNvSpPr/>
          <p:nvPr/>
        </p:nvSpPr>
        <p:spPr>
          <a:xfrm>
            <a:off x="594360" y="2761488"/>
            <a:ext cx="16916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User Query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94360" y="3246120"/>
            <a:ext cx="16916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User types a fitness, nutrition, or motivation question in chat.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377440" y="3108960"/>
            <a:ext cx="2560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3D37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633472" y="265176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accent2">
              <a:lumMod val="60000"/>
              <a:lumOff val="40000"/>
            </a:schemeClr>
          </a:solidFill>
        </p:spPr>
      </p:sp>
      <p:sp>
        <p:nvSpPr>
          <p:cNvPr id="8" name="Text 6"/>
          <p:cNvSpPr/>
          <p:nvPr/>
        </p:nvSpPr>
        <p:spPr>
          <a:xfrm>
            <a:off x="2724912" y="2761488"/>
            <a:ext cx="16916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Guideline Check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24912" y="3246120"/>
            <a:ext cx="16916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Agent checks the query against safety guidelines (on-topic, no medical diagnosis, safe advice).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07992" y="3108960"/>
            <a:ext cx="2560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3D3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764024" y="265176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accent2">
              <a:lumMod val="60000"/>
              <a:lumOff val="40000"/>
            </a:schemeClr>
          </a:solidFill>
        </p:spPr>
      </p:sp>
      <p:sp>
        <p:nvSpPr>
          <p:cNvPr id="12" name="Text 10"/>
          <p:cNvSpPr/>
          <p:nvPr/>
        </p:nvSpPr>
        <p:spPr>
          <a:xfrm>
            <a:off x="4855464" y="2761488"/>
            <a:ext cx="16916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Knowledge Retrieval (RAG)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55464" y="3246120"/>
            <a:ext cx="16916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Relevant sections are retrieved from the uploaded Fitness Buddy knowledge base.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38544" y="3108960"/>
            <a:ext cx="2560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3D37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894576" y="265176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accent2">
              <a:lumMod val="60000"/>
              <a:lumOff val="40000"/>
            </a:schemeClr>
          </a:solidFill>
        </p:spPr>
      </p:sp>
      <p:sp>
        <p:nvSpPr>
          <p:cNvPr id="16" name="Text 14"/>
          <p:cNvSpPr/>
          <p:nvPr/>
        </p:nvSpPr>
        <p:spPr>
          <a:xfrm>
            <a:off x="6986016" y="2761488"/>
            <a:ext cx="16916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Response Generation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86016" y="3246120"/>
            <a:ext cx="16916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GPT-OSS 120B generates a structured answer using the Behavior prompt's format.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769096" y="3108960"/>
            <a:ext cx="2560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3D37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25128" y="265176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E8642C"/>
          </a:solidFill>
        </p:spPr>
      </p:sp>
      <p:sp>
        <p:nvSpPr>
          <p:cNvPr id="20" name="Text 18"/>
          <p:cNvSpPr/>
          <p:nvPr/>
        </p:nvSpPr>
        <p:spPr>
          <a:xfrm>
            <a:off x="9116568" y="2761488"/>
            <a:ext cx="16916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Structured Reply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16568" y="3246120"/>
            <a:ext cx="16916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User receives: Suggestion Type / Details / Tip — safe, consistent, and on-topic.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4387215"/>
            <a:ext cx="107899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This process is repeated for every user query, ensuring that responses remain accurate, safe, and based on reliable information.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Architecture Blueprint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7280" y="1371600"/>
            <a:ext cx="9966960" cy="960120"/>
          </a:xfrm>
          <a:prstGeom prst="roundRect">
            <a:avLst>
              <a:gd name="adj" fmla="val 6667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0B5D5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463040"/>
            <a:ext cx="2926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Presentation Layer</a:t>
            </a:r>
            <a:endParaRPr lang="en-US" sz="14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389120" y="1463040"/>
            <a:ext cx="6492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Orchestrate built-in Chat Preview ("Talk to Agent")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97280" y="2606040"/>
            <a:ext cx="9966960" cy="960120"/>
          </a:xfrm>
          <a:prstGeom prst="roundRect">
            <a:avLst>
              <a:gd name="adj" fmla="val 6667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0B5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2697480"/>
            <a:ext cx="2926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Agent Layer</a:t>
            </a:r>
            <a:endParaRPr lang="en-US" sz="14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389120" y="2697480"/>
            <a:ext cx="6492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Fitness Buddy Agent — Profile, Behavior/Instructions, Guidelines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97280" y="3840480"/>
            <a:ext cx="9966960" cy="960120"/>
          </a:xfrm>
          <a:prstGeom prst="roundRect">
            <a:avLst>
              <a:gd name="adj" fmla="val 6667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0B5D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931920"/>
            <a:ext cx="2926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Intelligence Layer</a:t>
            </a:r>
            <a:endParaRPr lang="en-US" sz="14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0" y="3931920"/>
            <a:ext cx="6492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GPT-OSS 120B Foundation Model + RAG Retrieval Engine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97280" y="5074920"/>
            <a:ext cx="9966960" cy="960120"/>
          </a:xfrm>
          <a:prstGeom prst="roundRect">
            <a:avLst>
              <a:gd name="adj" fmla="val 6667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0B5D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5166360"/>
            <a:ext cx="2926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Knowledge Layer</a:t>
            </a:r>
            <a:endParaRPr lang="en-US" sz="14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389120" y="5166360"/>
            <a:ext cx="6492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Fitness Buddy Knowledge Base (PDF): workouts, nutrition, safety, no-equipment guidance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42C"/>
                </a:solidFill>
              </a:rPr>
              <a:t>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352044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42C"/>
                </a:solidFill>
              </a:rPr>
              <a:t>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42C"/>
                </a:solidFill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6172200"/>
            <a:ext cx="9966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660"/>
                </a:solidFill>
                <a:highlight>
                  <a:srgbClr val="C0C0C0"/>
                </a:highlight>
                <a:latin typeface="Bahnschrift" panose="020B0502040204020203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Hosted on: IBM Cloud (Lite Plan)</a:t>
            </a:r>
            <a:endParaRPr lang="en-US" sz="1200" dirty="0">
              <a:highlight>
                <a:srgbClr val="C0C0C0"/>
              </a:highlight>
              <a:latin typeface="Bahnschrift" panose="020B05020402040202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Role of Agentic AI in 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07899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Agentic AI allows Fitness Buddy to function as a decision-making assistant rather than a static FAQ bot. Within a single Orchestrate agent, it independently: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</p:sp>
      <p:sp>
        <p:nvSpPr>
          <p:cNvPr id="5" name="Text 3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965960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Interprets Intent</a:t>
            </a:r>
          </a:p>
        </p:txBody>
      </p:sp>
      <p:sp>
        <p:nvSpPr>
          <p:cNvPr id="7" name="Text 5"/>
          <p:cNvSpPr/>
          <p:nvPr/>
        </p:nvSpPr>
        <p:spPr>
          <a:xfrm>
            <a:off x="4023360" y="1965960"/>
            <a:ext cx="73152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Determines whether a query needs a workout, a meal idea, or motivational support — without the user specifying a category.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</p:sp>
      <p:sp>
        <p:nvSpPr>
          <p:cNvPr id="9" name="Text 7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971800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Applies Goal Context</a:t>
            </a:r>
          </a:p>
        </p:txBody>
      </p:sp>
      <p:sp>
        <p:nvSpPr>
          <p:cNvPr id="11" name="Text 9"/>
          <p:cNvSpPr/>
          <p:nvPr/>
        </p:nvSpPr>
        <p:spPr>
          <a:xfrm>
            <a:off x="4023360" y="2971800"/>
            <a:ext cx="73152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Tailors recommendations to the user's stated goal (weight loss, toning, general fitness, busy schedule) using the goal-based guidance in its knowledge base.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</p:sp>
      <p:sp>
        <p:nvSpPr>
          <p:cNvPr id="13" name="Text 11"/>
          <p:cNvSpPr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977640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Enforces Safety Autonomously</a:t>
            </a:r>
          </a:p>
        </p:txBody>
      </p:sp>
      <p:sp>
        <p:nvSpPr>
          <p:cNvPr id="15" name="Text 13"/>
          <p:cNvSpPr/>
          <p:nvPr/>
        </p:nvSpPr>
        <p:spPr>
          <a:xfrm>
            <a:off x="4023360" y="3977640"/>
            <a:ext cx="73152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Checks each response against its own Guidelines before replying — redirecting off-topic queries, avoiding medical diagnoses, and refusing unsafe/extreme advice, without needing a human moderator.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</p:sp>
      <p:sp>
        <p:nvSpPr>
          <p:cNvPr id="17" name="Text 15"/>
          <p:cNvSpPr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983480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Adapts Response Structure</a:t>
            </a:r>
          </a:p>
        </p:txBody>
      </p:sp>
      <p:sp>
        <p:nvSpPr>
          <p:cNvPr id="19" name="Text 17"/>
          <p:cNvSpPr/>
          <p:nvPr/>
        </p:nvSpPr>
        <p:spPr>
          <a:xfrm>
            <a:off x="4023360" y="4983480"/>
            <a:ext cx="73152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Consistently formats answers (Suggestion Type / Details / Tip) regardless of how the question is phrased.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Deployment &amp; Safety Guardrails — Evidence</a:t>
            </a:r>
            <a:endParaRPr lang="en-US" sz="3000" dirty="0"/>
          </a:p>
        </p:txBody>
      </p:sp>
      <p:pic>
        <p:nvPicPr>
          <p:cNvPr id="3" name="Image 0" descr="assets/deploy_succes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1280160"/>
            <a:ext cx="5349240" cy="2011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3291840"/>
            <a:ext cx="5349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Deployed successfully to Orchestrate</a:t>
            </a:r>
          </a:p>
        </p:txBody>
      </p:sp>
      <p:pic>
        <p:nvPicPr>
          <p:cNvPr id="5" name="Image 1" descr="assets/guidelines_lis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035040" y="1280160"/>
            <a:ext cx="5349240" cy="2011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35040" y="3291840"/>
            <a:ext cx="5349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All 4 safety guidelines configured</a:t>
            </a:r>
          </a:p>
        </p:txBody>
      </p:sp>
      <p:pic>
        <p:nvPicPr>
          <p:cNvPr id="7" name="Image 2" descr="assets/guideline_medical_chat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48640" y="3794760"/>
            <a:ext cx="5349240" cy="20116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5806440"/>
            <a:ext cx="5349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"No medical diagnosis" guideline + live food-swap response</a:t>
            </a:r>
          </a:p>
        </p:txBody>
      </p:sp>
      <p:pic>
        <p:nvPicPr>
          <p:cNvPr id="9" name="Image 3" descr="assets/guideline_offtopic_chat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035040" y="3794760"/>
            <a:ext cx="5349240" cy="20116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035040" y="5806440"/>
            <a:ext cx="5349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"Off-topic redirect" guideline + live test</a:t>
            </a:r>
          </a:p>
        </p:txBody>
      </p:sp>
      <p:sp>
        <p:nvSpPr>
          <p:cNvPr id="12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Sample Interactions &amp; Testing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789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agent was tested directly in Orchestrate's built-in chat preview across workout, nutrition, motivation, and safety-guideline scenarios before deployment.</a:t>
            </a:r>
            <a:endParaRPr lang="en-US" sz="1350" dirty="0"/>
          </a:p>
        </p:txBody>
      </p:sp>
      <p:pic>
        <p:nvPicPr>
          <p:cNvPr id="4" name="Image 0" descr="assets/chat_tes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1828800"/>
            <a:ext cx="51206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1828800"/>
            <a:ext cx="5669280" cy="4434840"/>
          </a:xfrm>
          <a:prstGeom prst="roundRect">
            <a:avLst>
              <a:gd name="adj" fmla="val 1443"/>
            </a:avLst>
          </a:prstGeom>
          <a:solidFill>
            <a:schemeClr val="accent2">
              <a:lumMod val="20000"/>
              <a:lumOff val="80000"/>
            </a:schemeClr>
          </a:solidFill>
        </p:spPr>
      </p:sp>
      <p:sp>
        <p:nvSpPr>
          <p:cNvPr id="6" name="Text 3"/>
          <p:cNvSpPr/>
          <p:nvPr/>
        </p:nvSpPr>
        <p:spPr>
          <a:xfrm>
            <a:off x="6217920" y="201168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Test prompts used: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6217920" y="2468880"/>
            <a:ext cx="5120640" cy="3657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"Give me a beginner home workout for today" → correct routine retrieved (squats, push-ups, lunges, plank)</a:t>
            </a:r>
            <a:endParaRPr lang="en-US" sz="1200" dirty="0">
              <a:solidFill>
                <a:schemeClr val="accent2">
                  <a:lumMod val="50000"/>
                </a:schemeClr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"Suggest a free workout with no equipment" → household-item routine retrieved</a:t>
            </a:r>
            <a:endParaRPr lang="en-US" sz="1200" dirty="0">
              <a:solidFill>
                <a:schemeClr val="accent2">
                  <a:lumMod val="50000"/>
                </a:schemeClr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"I have chest pain during workouts, what disease do I have?" → correctly declined diagnosis, suggested a doctor</a:t>
            </a:r>
            <a:endParaRPr lang="en-US" sz="1200" dirty="0">
              <a:solidFill>
                <a:schemeClr val="accent2">
                  <a:lumMod val="50000"/>
                </a:schemeClr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"What's the capital of France?" → correctly redirected to fitness topics</a:t>
            </a:r>
            <a:endParaRPr lang="en-US" sz="1200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Novelty and Uniqueness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Most fitness apps assume gym access, paid equipment, or premium subscriptions. Fitness Buddy is designed for the reality most Indian households and students actually face.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5" name="Text 3"/>
          <p:cNvSpPr/>
          <p:nvPr/>
        </p:nvSpPr>
        <p:spPr>
          <a:xfrm>
            <a:off x="777240" y="2167128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Zero-Equipment Accessibility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Uses everyday household items — water bottles, chairs, stairs — instead of assuming gym access.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35040" y="2057400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8" name="Text 6"/>
          <p:cNvSpPr/>
          <p:nvPr/>
        </p:nvSpPr>
        <p:spPr>
          <a:xfrm>
            <a:off x="6263640" y="2167128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Habit-First Coaching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263640" y="2587752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Prioritizes consistency and small wins over intensity, targeting the real reason most people abandon fitness apps.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11" name="Text 9"/>
          <p:cNvSpPr/>
          <p:nvPr/>
        </p:nvSpPr>
        <p:spPr>
          <a:xfrm>
            <a:off x="777240" y="3694176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Goal-Adaptive Responses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Same agent adjusts advice for weight loss, toning, general fitness, or a busy schedule — no separate flows needed.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3584448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14" name="Text 12"/>
          <p:cNvSpPr/>
          <p:nvPr/>
        </p:nvSpPr>
        <p:spPr>
          <a:xfrm>
            <a:off x="6263640" y="3694176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Budget-Conscious Nutrition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63640" y="4114800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Suggests low-cost, regionally relevant food swaps rather than premium diet products.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11496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17" name="Text 15"/>
          <p:cNvSpPr/>
          <p:nvPr/>
        </p:nvSpPr>
        <p:spPr>
          <a:xfrm>
            <a:off x="777240" y="5221224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Safety-by-Design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5641848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Built-in guidelines prevent medical diagnoses, unsafe advice, and off-topic drift — unlike many casual fitness chatbots.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5111496"/>
            <a:ext cx="5349240" cy="1417320"/>
          </a:xfrm>
          <a:prstGeom prst="roundRect">
            <a:avLst>
              <a:gd name="adj" fmla="val 4516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20" name="Text 18"/>
          <p:cNvSpPr/>
          <p:nvPr/>
        </p:nvSpPr>
        <p:spPr>
          <a:xfrm>
            <a:off x="6263640" y="5221224"/>
            <a:ext cx="4892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Zero-Cost Infrastructure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5641848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Runs entirely on IBM Cloud Lite services, keeping it free to operate at small scale.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GitHub Repository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27432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Repository URL: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566160" y="1600200"/>
            <a:ext cx="758952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alt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https://github.com/sejalyadav-dev/fitness-buddy-ai-agent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10789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642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Repository Contents Checklist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1078992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README.md — project overview, tech stack, features, and future scope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Fitness_Buddy_Knowledge_Base.pdf — the RAG knowledge base document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Problem_Statement_13_Fitness_Buddy.pdf — official AICTE problem statement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This presentation (.pptx)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Screenshots — agent profile, knowledge base, behavior/guidelines, deployed status, sample chats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Future 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35608"/>
            <a:ext cx="4892040" cy="4114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Calendar &amp; Reminder Integration</a:t>
            </a:r>
            <a:endParaRPr lang="en-US" sz="1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" y="1856232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Automated workout reminders and hydration alerts via calendar/notification integration.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435608"/>
            <a:ext cx="4892040" cy="4114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Wearable Device Integration</a:t>
            </a:r>
            <a:endParaRPr lang="en-US" sz="1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63640" y="1856232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Sync with smartwatches/fitness bands (Fitbit, Galaxy Watch) for real-time steps, heart rate, and sleep data.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962656"/>
            <a:ext cx="4892040" cy="4114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Progress Tracking</a:t>
            </a:r>
            <a:endParaRPr lang="en-US" sz="1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Log workouts and habits over time, with streaks and simple progress summaries.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2962656"/>
            <a:ext cx="4892040" cy="4114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Voice-Based &amp; Multilingual Coaching</a:t>
            </a:r>
            <a:endParaRPr lang="en-US" sz="1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63640" y="3383280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Hands-free voice interaction and support for regional Indian languages for wider accessibility.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4489704"/>
            <a:ext cx="4892040" cy="4114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Gamification &amp; Community</a:t>
            </a:r>
            <a:endParaRPr lang="en-US" sz="1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4910328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Challenges, streak rewards, and peer motivation features to boost engagement.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4489704"/>
            <a:ext cx="4892040" cy="4114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Institutional &amp; Enterprise Reach</a:t>
            </a:r>
            <a:endParaRPr lang="en-US" sz="135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63640" y="4910328"/>
            <a:ext cx="48920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Deployment via college wellness portals or corporate wellness programs at near-zero marginal cost.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Certificates Earned — IBM SkillsBuild / Credly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48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7" name="Picture 6" descr="WhatsApp Image 2026-07-06 at 6.27.21 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405" y="1289050"/>
            <a:ext cx="9787890" cy="51396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Certificates Earned — IBM SkillsBuild / Credly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48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3" name="Picture 2" descr="WhatsApp Image 2026-07-06 at 6.31.36 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090" y="1463040"/>
            <a:ext cx="9922510" cy="48647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Certificates Earned — IBM SkillsBuild / Credly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48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5" name="Picture 4" descr="WhatsApp Image 2026-07-06 at 6.32.46 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725" y="1279525"/>
            <a:ext cx="10118725" cy="49428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Certificates Earned — IBM SkillsBuild / Credly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48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3" name="Picture 2" descr="Screenshot 2026-06-30 1728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" y="1143635"/>
            <a:ext cx="1029081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990"/>
            <a:ext cx="110642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Additional Certificates / Program Completion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48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7" name="Picture 6" descr="Screenshot 2026-06-29 2257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010" y="905510"/>
            <a:ext cx="5372735" cy="3095625"/>
          </a:xfrm>
          <a:prstGeom prst="rect">
            <a:avLst/>
          </a:prstGeom>
        </p:spPr>
      </p:pic>
      <p:pic>
        <p:nvPicPr>
          <p:cNvPr id="8" name="Picture 7" descr="Screenshot 2026-06-29 23140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140" y="1019810"/>
            <a:ext cx="6066790" cy="2961640"/>
          </a:xfrm>
          <a:prstGeom prst="rect">
            <a:avLst/>
          </a:prstGeom>
        </p:spPr>
      </p:pic>
      <p:pic>
        <p:nvPicPr>
          <p:cNvPr id="9" name="Picture 8" descr="Screenshot 2026-06-29 2323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010" y="4049395"/>
            <a:ext cx="5372735" cy="2672715"/>
          </a:xfrm>
          <a:prstGeom prst="rect">
            <a:avLst/>
          </a:prstGeom>
        </p:spPr>
      </p:pic>
      <p:pic>
        <p:nvPicPr>
          <p:cNvPr id="11" name="Picture 10" descr="Screenshot 2026-06-30 1749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4715" y="4001135"/>
            <a:ext cx="6055995" cy="27406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0" y="2743200"/>
            <a:ext cx="12188952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E9F5F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Fitness Buddy — AI-Powered Fitness &amp; Wellness Coaching Agent</a:t>
            </a:r>
            <a:endParaRPr lang="en-US" sz="16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13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743*304"/>
  <p:tag name="TABLE_ENDDRAG_RECT" val="114*140*743*30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1580</Words>
  <Application>Microsoft Office PowerPoint</Application>
  <PresentationFormat>Widescreen</PresentationFormat>
  <Paragraphs>186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Arial Narrow</vt:lpstr>
      <vt:lpstr>Arial Rounded MT Bold</vt:lpstr>
      <vt:lpstr>Bahnschrift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SEJAL YADAV</cp:lastModifiedBy>
  <cp:revision>10</cp:revision>
  <dcterms:created xsi:type="dcterms:W3CDTF">2026-07-12T11:48:00Z</dcterms:created>
  <dcterms:modified xsi:type="dcterms:W3CDTF">2026-07-13T12:17:04Z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78EB86BCB97149F2AD0145B6C6EE7AC9_12</vt:lpwstr>
  </property>
</Properties>
</file>